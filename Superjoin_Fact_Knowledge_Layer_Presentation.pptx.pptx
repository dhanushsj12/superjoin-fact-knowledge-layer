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SUPERJOIN VIT 2026 · ENGINEERING INTERN ASSIGNMENT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745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 Knowledge Layer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06324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Evidence-grounded fact extraction and cross-document reasoning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PDFs — corroboration, contradiction, and contextual reconciliation.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3434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983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PDFS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43434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265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4983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CROSS-DOC RELATIONSHIPS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035040" y="43434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4983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641080" y="43434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8641080" y="4983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DEMO CASES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6172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39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github.com/Dhanushsj12/superjoin-fact-knowledge-layer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4980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Facts about the same thing, said differently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087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Superjoin's brief: build a system that extracts meaningful facts from PDFs, links every fact to its source evidence, and determines whether facts across documents corroborate, contradict, or are reconciled through context — without hard-coding rules for any one document.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51460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4F6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72491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246120"/>
            <a:ext cx="2148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numerical and semantic facts out of unstructured PDF text — revenue, employee counts, GDP figures, debt, market share.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29000" y="251460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4F6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657600" y="272491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3246120"/>
            <a:ext cx="2148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fact must trace back to a page and an exact quoted sentence in its source document. No claim without evidence.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251460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4F6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46520" y="272491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Reason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3246120"/>
            <a:ext cx="2148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facts across documents and classify the relationship: do they agree, genuinely conflict, or only appear to conflict?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006840" y="251460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4F6F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235440" y="272491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Generalize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9235440" y="3246120"/>
            <a:ext cx="2148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must work on PDFs it has never seen — no filenames, schemas, or facts hard-coded in.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58064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graph database or visualization alone is not the solution — the interesting part is how facts are discovered, grounded, compared, and explained.” — Superjoin brief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4980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chatbot. Not a graph viewer.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0876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naive solutions stop at “PDF → LLM → JSON” or lean on a graph database as the deliverable itself. We treated the graph as a representation of the reasoning — never the reasoning itself.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5212080" cy="3749040"/>
          </a:xfrm>
          <a:prstGeom prst="roundRect">
            <a:avLst>
              <a:gd name="adj" fmla="val 1951"/>
            </a:avLst>
          </a:prstGeom>
          <a:solidFill>
            <a:srgbClr val="FBEEE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6060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B33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DELIBERATELY AVOIDED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017520"/>
            <a:ext cx="4663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✗"/>
            </a:pPr>
            <a:r>
              <a:rPr lang="en-US" sz="13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PDF → ask an LLM to summarize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✗"/>
            </a:pPr>
            <a:r>
              <a:rPr lang="en-US" sz="13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RAG chatbot with no fact structure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✗"/>
            </a:pPr>
            <a:r>
              <a:rPr lang="en-US" sz="13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visualization presented as the solution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✗"/>
            </a:pPr>
            <a:r>
              <a:rPr lang="en-US" sz="13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Hard-coded rules tied to the Delhivery dataset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✗"/>
            </a:pPr>
            <a:r>
              <a:rPr lang="en-US" sz="13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Claiming perfect extraction accuracy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80760" y="2377440"/>
            <a:ext cx="5468112" cy="3749040"/>
          </a:xfrm>
          <a:prstGeom prst="roundRect">
            <a:avLst>
              <a:gd name="adj" fmla="val 1951"/>
            </a:avLst>
          </a:prstGeom>
          <a:solidFill>
            <a:srgbClr val="E9F3E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55080" y="26060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1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 INSTEAD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3017520"/>
            <a:ext cx="4937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3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fact schema — not tied to Delhivery or any one domain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3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fact independently verified against its source chunk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3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normalization + relationship engine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3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used only as an optional semantic-extraction aid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3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across two unrelated datasets with zero code changes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4980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Pipeline: from PDF to reasoned relationship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298448" cy="1234440"/>
          </a:xfrm>
          <a:prstGeom prst="roundRect">
            <a:avLst>
              <a:gd name="adj" fmla="val 5185"/>
            </a:avLst>
          </a:prstGeom>
          <a:solidFill>
            <a:srgbClr val="F4F6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94944" y="2075688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Parser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938528" y="2286000"/>
            <a:ext cx="173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066544" y="1965960"/>
            <a:ext cx="1298448" cy="1234440"/>
          </a:xfrm>
          <a:prstGeom prst="roundRect">
            <a:avLst>
              <a:gd name="adj" fmla="val 5185"/>
            </a:avLst>
          </a:prstGeom>
          <a:solidFill>
            <a:srgbClr val="F4F6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121408" y="2075688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Chunker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364992" y="2286000"/>
            <a:ext cx="173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493008" y="1965960"/>
            <a:ext cx="1298448" cy="1234440"/>
          </a:xfrm>
          <a:prstGeom prst="roundRect">
            <a:avLst>
              <a:gd name="adj" fmla="val 5185"/>
            </a:avLst>
          </a:prstGeom>
          <a:solidFill>
            <a:srgbClr val="F4F6F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547872" y="2075688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791456" y="2286000"/>
            <a:ext cx="173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919472" y="1965960"/>
            <a:ext cx="1298448" cy="1234440"/>
          </a:xfrm>
          <a:prstGeom prst="roundRect">
            <a:avLst>
              <a:gd name="adj" fmla="val 5185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974336" y="2075688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(LLM + fallback)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2286000"/>
            <a:ext cx="173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345936" y="1965960"/>
            <a:ext cx="1298448" cy="1234440"/>
          </a:xfrm>
          <a:prstGeom prst="roundRect">
            <a:avLst>
              <a:gd name="adj" fmla="val 5185"/>
            </a:avLst>
          </a:prstGeom>
          <a:solidFill>
            <a:srgbClr val="F4F6F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0" y="2075688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644384" y="2286000"/>
            <a:ext cx="173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772400" y="1965960"/>
            <a:ext cx="1298448" cy="1234440"/>
          </a:xfrm>
          <a:prstGeom prst="roundRect">
            <a:avLst>
              <a:gd name="adj" fmla="val 5185"/>
            </a:avLst>
          </a:prstGeom>
          <a:solidFill>
            <a:srgbClr val="F4F6F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827264" y="2075688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9070848" y="2286000"/>
            <a:ext cx="173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198864" y="1965960"/>
            <a:ext cx="1298448" cy="1234440"/>
          </a:xfrm>
          <a:prstGeom prst="roundRect">
            <a:avLst>
              <a:gd name="adj" fmla="val 5185"/>
            </a:avLst>
          </a:prstGeom>
          <a:solidFill>
            <a:srgbClr val="F4F6F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253728" y="2075688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0497312" y="2286000"/>
            <a:ext cx="173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0625328" y="1965960"/>
            <a:ext cx="1298448" cy="1234440"/>
          </a:xfrm>
          <a:prstGeom prst="roundRect">
            <a:avLst>
              <a:gd name="adj" fmla="val 5185"/>
            </a:avLst>
          </a:prstGeom>
          <a:solidFill>
            <a:srgbClr val="F4F6F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0680192" y="2075688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39312" y="3429000"/>
            <a:ext cx="0" cy="502920"/>
          </a:xfrm>
          <a:prstGeom prst="line">
            <a:avLst/>
          </a:prstGeom>
          <a:noFill/>
          <a:ln w="12700">
            <a:solidFill>
              <a:srgbClr val="5B6B8C"/>
            </a:solidFill>
            <a:prstDash val="dash"/>
          </a:ln>
        </p:spPr>
      </p:sp>
      <p:sp>
        <p:nvSpPr>
          <p:cNvPr id="29" name="Text 27"/>
          <p:cNvSpPr txBox="1"/>
          <p:nvPr/>
        </p:nvSpPr>
        <p:spPr>
          <a:xfrm>
            <a:off x="640080" y="40233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extraction paths feed the SAME downstream reasoning — the reasoning layer does not know or care which one produced a fact.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40080" y="4617720"/>
            <a:ext cx="5212080" cy="1600200"/>
          </a:xfrm>
          <a:prstGeom prst="roundRect">
            <a:avLst>
              <a:gd name="adj" fmla="val 4571"/>
            </a:avLst>
          </a:prstGeom>
          <a:solidFill>
            <a:srgbClr val="EAF0FC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14400" y="48006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LLM-ASSISTED (preferred)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914400" y="512064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natural phrasing — “31% increase in revenue during FY24” → entity, metric, value, period. Output is still verified against the source chunk before being trusted.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080760" y="4617720"/>
            <a:ext cx="5468112" cy="1600200"/>
          </a:xfrm>
          <a:prstGeom prst="roundRect">
            <a:avLst>
              <a:gd name="adj" fmla="val 4571"/>
            </a:avLst>
          </a:prstGeom>
          <a:solidFill>
            <a:srgbClr val="F4F6FC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355080" y="48006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(resilience path)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355080" y="512064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Pattern-based extraction of explicit numeric statements. Keeps ingestion working when the external model is rate-limited, out of quota, or unavailable — no dependency on a paid API to demo the system.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REPRESENTATION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4980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fact carries its own evidence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5029200" cy="4526280"/>
          </a:xfrm>
          <a:prstGeom prst="roundRect">
            <a:avLst>
              <a:gd name="adj" fmla="val 1616"/>
            </a:avLst>
          </a:prstGeom>
          <a:solidFill>
            <a:srgbClr val="1B1F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1810512"/>
            <a:ext cx="45720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entity:  "Delhivery",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metric:  "customers",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value:   77,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period:  "December 31, 2021",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scope:   null,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evidence: "...77 Active Customers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used our supply chain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services solutions.",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page_number: 49,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source_document: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"01-delhivery-prospectus-2022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-excerpt.pdf"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989320" y="1691640"/>
            <a:ext cx="5532120" cy="1371600"/>
          </a:xfrm>
          <a:prstGeom prst="roundRect">
            <a:avLst>
              <a:gd name="adj" fmla="val 4667"/>
            </a:avLst>
          </a:prstGeom>
          <a:solidFill>
            <a:srgbClr val="F4F6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1792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schema, not a Delhivery schema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2221992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/ metric / value / unit / period / scope — the same shape covers a revenue figure, a director's status, or a GDP growth rate.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89320" y="3227832"/>
            <a:ext cx="5532120" cy="1371600"/>
          </a:xfrm>
          <a:prstGeom prst="roundRect">
            <a:avLst>
              <a:gd name="adj" fmla="val 4667"/>
            </a:avLst>
          </a:prstGeom>
          <a:solidFill>
            <a:srgbClr val="F4F6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217920" y="336499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is a verified quote, not a guess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3758184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fact is checked back against the original PDF chunk. If the quote can't be matched, the fact is flagged rather than trusted.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89320" y="4764024"/>
            <a:ext cx="5532120" cy="1371600"/>
          </a:xfrm>
          <a:prstGeom prst="roundRect">
            <a:avLst>
              <a:gd name="adj" fmla="val 4667"/>
            </a:avLst>
          </a:prstGeom>
          <a:solidFill>
            <a:srgbClr val="F4F6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217920" y="490118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Page-level traceability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5294376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screenshot in our demo links straight back to a page number an evaluator can open and check by hand.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ENGINE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4980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outcomes, chosen conservatively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are compared only after normalization. When context is incomplete, the system reports uncertainty instead of guessing.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2606040" cy="3246120"/>
          </a:xfrm>
          <a:prstGeom prst="roundRect">
            <a:avLst>
              <a:gd name="adj" fmla="val 2807"/>
            </a:avLst>
          </a:prstGeom>
          <a:solidFill>
            <a:srgbClr val="E9F3EE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237744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E8A5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6060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1E8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Corroboration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29184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metric, comparable context, same normalized value — even if the wording differs between documents.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29000" y="2148840"/>
            <a:ext cx="2606040" cy="3246120"/>
          </a:xfrm>
          <a:prstGeom prst="roundRect">
            <a:avLst>
              <a:gd name="adj" fmla="val 2807"/>
            </a:avLst>
          </a:prstGeom>
          <a:solidFill>
            <a:srgbClr val="FBEEEC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0" y="237744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B3392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57600" y="26060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B33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Contradiction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329184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metric, compatible context, materially different values. Flagged only when context genuinely supports comparison.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0" y="2148840"/>
            <a:ext cx="2606040" cy="3246120"/>
          </a:xfrm>
          <a:prstGeom prst="roundRect">
            <a:avLst>
              <a:gd name="adj" fmla="val 2807"/>
            </a:avLst>
          </a:prstGeom>
          <a:solidFill>
            <a:srgbClr val="FBF3E6"/>
          </a:solidFill>
          <a:ln/>
        </p:spPr>
      </p:sp>
      <p:sp>
        <p:nvSpPr>
          <p:cNvPr id="15" name="Shape 13"/>
          <p:cNvSpPr/>
          <p:nvPr/>
        </p:nvSpPr>
        <p:spPr>
          <a:xfrm>
            <a:off x="6446520" y="237744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B5750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46520" y="26060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B57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Contextual Difference</a:t>
            </a:r>
            <a:endParaRPr lang="en-US" sz="165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329184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differ because scope differs — e.g. “permanent employees” vs “female employees.” Not a contradiction.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006840" y="2148840"/>
            <a:ext cx="2606040" cy="3246120"/>
          </a:xfrm>
          <a:prstGeom prst="roundRect">
            <a:avLst>
              <a:gd name="adj" fmla="val 2807"/>
            </a:avLst>
          </a:prstGeom>
          <a:solidFill>
            <a:srgbClr val="F4F6FC"/>
          </a:solidFill>
          <a:ln/>
        </p:spPr>
      </p:sp>
      <p:sp>
        <p:nvSpPr>
          <p:cNvPr id="19" name="Shape 17"/>
          <p:cNvSpPr/>
          <p:nvPr/>
        </p:nvSpPr>
        <p:spPr>
          <a:xfrm>
            <a:off x="9235440" y="237744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5B6B8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235440" y="26060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5B6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Uncertain</a:t>
            </a:r>
            <a:endParaRPr lang="en-US" sz="1650" dirty="0"/>
          </a:p>
        </p:txBody>
      </p:sp>
      <p:sp>
        <p:nvSpPr>
          <p:cNvPr id="21" name="Text 19"/>
          <p:cNvSpPr txBox="1"/>
          <p:nvPr/>
        </p:nvSpPr>
        <p:spPr>
          <a:xfrm>
            <a:off x="9235440" y="329184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differ but units, period, or scope aren't explicit enough to safely judge. The system withholds a verdict.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5623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principle: a false contradiction is more harmful than an honest “uncertain.” The engine is built to prefer the latter.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ON REAL DATA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4980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required cases, grounded in the PDFs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881360" cy="1051560"/>
          </a:xfrm>
          <a:prstGeom prst="roundRect">
            <a:avLst>
              <a:gd name="adj" fmla="val 6087"/>
            </a:avLst>
          </a:prstGeom>
          <a:solidFill>
            <a:srgbClr val="F4F6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783080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8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1874520" y="1901952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Corroboration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5623560" y="1901952"/>
            <a:ext cx="5623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metric confirmed across two Delhivery documents once normalized, despite different phrasing.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971800"/>
            <a:ext cx="10881360" cy="1051560"/>
          </a:xfrm>
          <a:prstGeom prst="roundRect">
            <a:avLst>
              <a:gd name="adj" fmla="val 6087"/>
            </a:avLst>
          </a:prstGeom>
          <a:solidFill>
            <a:srgbClr val="F4F6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2971800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33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1874520" y="3090672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Contradiction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5623560" y="3090672"/>
            <a:ext cx="5623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documents report the same metric with materially different normalized values and compatible context.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160520"/>
            <a:ext cx="10881360" cy="1051560"/>
          </a:xfrm>
          <a:prstGeom prst="roundRect">
            <a:avLst>
              <a:gd name="adj" fmla="val 6087"/>
            </a:avLst>
          </a:prstGeom>
          <a:solidFill>
            <a:srgbClr val="F4F6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4160520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57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1874520" y="4279392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Difference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5623560" y="4279392"/>
            <a:ext cx="5623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23,381 permanent employees vs. 5,594 female employees — different populations, not a conflict.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5349240"/>
            <a:ext cx="10881360" cy="1051560"/>
          </a:xfrm>
          <a:prstGeom prst="roundRect">
            <a:avLst>
              <a:gd name="adj" fmla="val 6087"/>
            </a:avLst>
          </a:prstGeom>
          <a:solidFill>
            <a:srgbClr val="F4F6F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5349240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6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1874520" y="5468112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/ Reasoning Failure</a:t>
            </a:r>
            <a:endParaRPr lang="en-US" sz="1550" dirty="0"/>
          </a:p>
        </p:txBody>
      </p:sp>
      <p:sp>
        <p:nvSpPr>
          <p:cNvPr id="20" name="Text 18"/>
          <p:cNvSpPr txBox="1"/>
          <p:nvPr/>
        </p:nvSpPr>
        <p:spPr>
          <a:xfrm>
            <a:off x="5623560" y="5468112"/>
            <a:ext cx="5623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case where normalization or entity matching fell short, documented rather than hidden.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64008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case links to a real page number and a verified quote from a starter-dataset PDF — shown live in the demo video and the evidence-verification screenshots.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DECISIONS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4980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Trade-offs we made, and why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91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892040" y="16916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75320" y="16916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 ACCEPTED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011680"/>
            <a:ext cx="10881360" cy="0"/>
          </a:xfrm>
          <a:prstGeom prst="line">
            <a:avLst/>
          </a:prstGeom>
          <a:noFill/>
          <a:ln w="12700">
            <a:solidFill>
              <a:srgbClr val="D7DD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14884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fallback over LLM-only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214884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APIs rate-limit or fail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8275320" y="214884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Weaker on complex, indirect phrasing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871216"/>
            <a:ext cx="11064240" cy="77724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292608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every LLM output against source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292608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fact without provenance isn't trustworthy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8275320" y="292608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processing overhead per fact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70332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“Uncertain” over forced classification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370332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contradictions are worse than none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275320" y="370332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real relationships stay unresolved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425696"/>
            <a:ext cx="11064240" cy="77724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448056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HTML/CSS/JS frontend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4892040" y="448056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rewards the reasoning, not the UI framework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8275320" y="448056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polished interaction than a SPA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525780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on two unrelated datasets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892040" y="525780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Proves generalization, not just Delhivery fit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8275320" y="525780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guarantee every future domain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HONESTY BY DESIGN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4980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doesn't work yet, and what's next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FBF3E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9202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B57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331720"/>
            <a:ext cx="46634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ambiguous prose can still yield uncertain facts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tables/charts need table- or vision-aware extraction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interpretation weakens without LLM access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resolution is basic — some cross-document matches are missed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persistent database — in-memory/file store for this prototype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80760" y="1691640"/>
            <a:ext cx="5468112" cy="4434840"/>
          </a:xfrm>
          <a:prstGeom prst="roundRect">
            <a:avLst>
              <a:gd name="adj" fmla="val 1649"/>
            </a:avLst>
          </a:prstGeom>
          <a:solidFill>
            <a:srgbClr val="E9F3E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55080" y="19202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1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355080" y="2331720"/>
            <a:ext cx="4937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entity resolution across differently-named sources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Table-aware and OCR-based extraction for scanned/complex PDFs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Per-fact confidence scores, not just per-relationship labels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Persistent, database-backed storage for larger corpora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ingestion — add a document without a full rebuild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6858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GENERALIZATION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0515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pipeline, two unrelated domains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2A357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22128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Delhivery dataset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578608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Prospectus · Annual Report · Q4 Earnings Deck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2057400"/>
            <a:ext cx="5148072" cy="1371600"/>
          </a:xfrm>
          <a:prstGeom prst="roundRect">
            <a:avLst>
              <a:gd name="adj" fmla="val 5333"/>
            </a:avLst>
          </a:prstGeom>
          <a:solidFill>
            <a:srgbClr val="2A357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92240" y="22128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macroeconomy dataset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578608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Survey · RBI Report · IMF Article IV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611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document-specific code changed between them.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4206240"/>
            <a:ext cx="10515600" cy="0"/>
          </a:xfrm>
          <a:prstGeom prst="line">
            <a:avLst/>
          </a:prstGeom>
          <a:noFill/>
          <a:ln w="12700">
            <a:solidFill>
              <a:srgbClr val="44508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434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7548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FastAPI   ·   PyMuPDF parsing   ·   Gemini / Groq / Cerebras (optional)   ·   Deterministic fallback engine   ·   86 automated tests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8064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 github.com/Dhanushsj12/superjoin-fact-knowledge-layer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614476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 superjoin-fact-knowledge-ui.onrender.com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2026-09-08T18:55:43Z</dcterms:created>
  <dcterms:modified xsi:type="dcterms:W3CDTF">2026-09-08T18:55:43Z</dcterms:modified>
</cp:coreProperties>
</file>